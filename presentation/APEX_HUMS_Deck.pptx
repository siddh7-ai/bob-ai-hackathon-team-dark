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APEX HUMS is a physics-informed fleet readiness and predictive maintenance platform for military aviation, built by Team Dark for the Bob AI Hackathon on the AI track.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Scheduled and reactive maintenance leaves commanders blind to abort risk and technicians drowning in telemetry. The cost is measurable: aborted missions, 3.5x labor burn, and six-figure secondary damage events.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pillars: a readiness classifier grounded in military operating bounds, plain-language briefings, RUL and abort probability forecasting, and a transparent priority queue.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Seven-stage pipeline from raw telemetry to the React command HUD, validated on an asset-separated holdout split with no leakage between train and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IBM Bob CLI and watsonx do load-bearing work: briefing synthesis, work order dispatch with parts and labor estimation, and automated validation plus continuous model scoring.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Immediate impact: 70% fewer unplanned aborts and 40% lower labor and inventory cost. Next: edge deployment on MIL-STD-1553 / ARINC 429 buses and a multi-tenant defense cloud with ERP hooks. Live demo is running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0"/>
            <a:ext cx="0" cy="685800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53312" y="0"/>
            <a:ext cx="0" cy="685800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29968" y="0"/>
            <a:ext cx="0" cy="685800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06624" y="0"/>
            <a:ext cx="0" cy="685800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83280" y="0"/>
            <a:ext cx="0" cy="685800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59936" y="0"/>
            <a:ext cx="0" cy="685800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36592" y="0"/>
            <a:ext cx="0" cy="685800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13248" y="0"/>
            <a:ext cx="0" cy="685800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9904" y="0"/>
            <a:ext cx="0" cy="685800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0"/>
            <a:ext cx="0" cy="685800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43216" y="0"/>
            <a:ext cx="0" cy="685800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19872" y="0"/>
            <a:ext cx="0" cy="685800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96528" y="0"/>
            <a:ext cx="0" cy="685800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73184" y="0"/>
            <a:ext cx="0" cy="685800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49840" y="0"/>
            <a:ext cx="0" cy="685800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26496" y="0"/>
            <a:ext cx="0" cy="685800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503152" y="0"/>
            <a:ext cx="0" cy="685800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179808" y="0"/>
            <a:ext cx="0" cy="685800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48640"/>
            <a:ext cx="12188952" cy="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097280"/>
            <a:ext cx="12188952" cy="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645920"/>
            <a:ext cx="12188952" cy="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194560"/>
            <a:ext cx="12188952" cy="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291840"/>
            <a:ext cx="12188952" cy="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840480"/>
            <a:ext cx="12188952" cy="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389120"/>
            <a:ext cx="12188952" cy="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937760"/>
            <a:ext cx="12188952" cy="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035040"/>
            <a:ext cx="12188952" cy="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583680"/>
            <a:ext cx="12188952" cy="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82412" y="658368"/>
            <a:ext cx="1024128" cy="1024128"/>
          </a:xfrm>
          <a:prstGeom prst="ellipse">
            <a:avLst/>
          </a:prstGeom>
          <a:solidFill>
            <a:srgbClr val="1B2947"/>
          </a:solidFill>
          <a:ln w="15875">
            <a:solidFill>
              <a:srgbClr val="FBBF24"/>
            </a:solidFill>
            <a:prstDash val="solid"/>
          </a:ln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8927" y="934883"/>
            <a:ext cx="471099" cy="471099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914400" y="1874520"/>
            <a:ext cx="10360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HUMS</a:t>
            </a:r>
            <a:endParaRPr lang="en-US" sz="4600" dirty="0"/>
          </a:p>
        </p:txBody>
      </p:sp>
      <p:sp>
        <p:nvSpPr>
          <p:cNvPr id="35" name="Text 32"/>
          <p:cNvSpPr txBox="1"/>
          <p:nvPr/>
        </p:nvSpPr>
        <p:spPr>
          <a:xfrm>
            <a:off x="914400" y="2578608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Fleet Readiness &amp; Predictive Maintenance System</a:t>
            </a:r>
            <a:endParaRPr lang="en-US" sz="1900" dirty="0"/>
          </a:p>
        </p:txBody>
      </p:sp>
      <p:sp>
        <p:nvSpPr>
          <p:cNvPr id="36" name="Text 33"/>
          <p:cNvSpPr txBox="1"/>
          <p:nvPr/>
        </p:nvSpPr>
        <p:spPr>
          <a:xfrm>
            <a:off x="914400" y="2999232"/>
            <a:ext cx="10360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Physics-Informed AI Decision Support for Defense &amp; Aerospace Operations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2116836" y="3529584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B294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2116836" y="352958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DARK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4174236" y="3529584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1B2947"/>
          </a:solidFill>
          <a:ln w="12700">
            <a:solidFill>
              <a:srgbClr val="2E3F5C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174236" y="352958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97A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TRACK: AI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6094476" y="3529584"/>
            <a:ext cx="3977640" cy="384048"/>
          </a:xfrm>
          <a:prstGeom prst="roundRect">
            <a:avLst>
              <a:gd name="adj" fmla="val 50000"/>
            </a:avLst>
          </a:prstGeom>
          <a:solidFill>
            <a:srgbClr val="1B2947"/>
          </a:solidFill>
          <a:ln w="12700">
            <a:solidFill>
              <a:srgbClr val="2E3F5C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094476" y="352958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97A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DOMAIN: DEFENSE &amp; AEROSPACE HUMS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548640" y="4315968"/>
            <a:ext cx="2567178" cy="1051560"/>
          </a:xfrm>
          <a:prstGeom prst="roundRect">
            <a:avLst>
              <a:gd name="adj" fmla="val 6957"/>
            </a:avLst>
          </a:prstGeom>
          <a:solidFill>
            <a:srgbClr val="22304E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58368" y="4498848"/>
            <a:ext cx="23477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Siddharthsinh Raulji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658368" y="4901184"/>
            <a:ext cx="23477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3390138" y="4315968"/>
            <a:ext cx="2567178" cy="1051560"/>
          </a:xfrm>
          <a:prstGeom prst="roundRect">
            <a:avLst>
              <a:gd name="adj" fmla="val 6957"/>
            </a:avLst>
          </a:prstGeom>
          <a:solidFill>
            <a:srgbClr val="18243C"/>
          </a:solidFill>
          <a:ln w="12700">
            <a:solidFill>
              <a:srgbClr val="2E3F5C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3499866" y="4498848"/>
            <a:ext cx="23477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Dharmit Monani</a:t>
            </a:r>
            <a:endParaRPr lang="en-US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3499866" y="4901184"/>
            <a:ext cx="23477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97A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6231636" y="4315968"/>
            <a:ext cx="2567178" cy="1051560"/>
          </a:xfrm>
          <a:prstGeom prst="roundRect">
            <a:avLst>
              <a:gd name="adj" fmla="val 6957"/>
            </a:avLst>
          </a:prstGeom>
          <a:solidFill>
            <a:srgbClr val="18243C"/>
          </a:solidFill>
          <a:ln w="12700">
            <a:solidFill>
              <a:srgbClr val="2E3F5C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6341364" y="4498848"/>
            <a:ext cx="23477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Japesh Patel</a:t>
            </a:r>
            <a:endParaRPr lang="en-US" sz="1300" dirty="0"/>
          </a:p>
        </p:txBody>
      </p:sp>
      <p:sp>
        <p:nvSpPr>
          <p:cNvPr id="51" name="Text 48"/>
          <p:cNvSpPr txBox="1"/>
          <p:nvPr/>
        </p:nvSpPr>
        <p:spPr>
          <a:xfrm>
            <a:off x="6341364" y="4901184"/>
            <a:ext cx="23477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97A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9073134" y="4315968"/>
            <a:ext cx="2567178" cy="1051560"/>
          </a:xfrm>
          <a:prstGeom prst="roundRect">
            <a:avLst>
              <a:gd name="adj" fmla="val 6957"/>
            </a:avLst>
          </a:prstGeom>
          <a:solidFill>
            <a:srgbClr val="18243C"/>
          </a:solidFill>
          <a:ln w="12700">
            <a:solidFill>
              <a:srgbClr val="2E3F5C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9182862" y="4498848"/>
            <a:ext cx="23477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Pansara</a:t>
            </a:r>
            <a:endParaRPr lang="en-US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9182862" y="4901184"/>
            <a:ext cx="23477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97A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</a:t>
            </a:r>
            <a:endParaRPr lang="en-US" sz="900" dirty="0"/>
          </a:p>
        </p:txBody>
      </p:sp>
      <p:sp>
        <p:nvSpPr>
          <p:cNvPr id="55" name="Text 52"/>
          <p:cNvSpPr txBox="1"/>
          <p:nvPr/>
        </p:nvSpPr>
        <p:spPr>
          <a:xfrm>
            <a:off x="914400" y="5806440"/>
            <a:ext cx="10360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97A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 AI HACKATHON  ·  IBM  ·  LIVE DEMO: iaf-hums-system.onrender.com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  —  PROBLEM STATEMENT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Servicing Is Grounding the Fleet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97A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Military airbases still run outdated scheduled and reactive servicing cycles — driving high maintenance cost, unexpected platform downtime, and catastrophic in-flight component failure risk.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3852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 HURTS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249424"/>
            <a:ext cx="5362956" cy="1207008"/>
          </a:xfrm>
          <a:prstGeom prst="roundRect">
            <a:avLst>
              <a:gd name="adj" fmla="val 6061"/>
            </a:avLst>
          </a:prstGeom>
          <a:solidFill>
            <a:srgbClr val="18243C"/>
          </a:solidFill>
          <a:ln w="12700">
            <a:solidFill>
              <a:srgbClr val="2E3F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505456"/>
            <a:ext cx="658368" cy="658368"/>
          </a:xfrm>
          <a:prstGeom prst="ellipse">
            <a:avLst/>
          </a:prstGeom>
          <a:solidFill>
            <a:srgbClr val="23334F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431" y="2683215"/>
            <a:ext cx="302849" cy="30284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9344" y="2487168"/>
            <a:ext cx="40827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Squadron Commanders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609344" y="2798064"/>
            <a:ext cx="40827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7A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pre-mission abort risk visibility — go / no-go calls are made on gut feel, not evidence.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77356" y="2249424"/>
            <a:ext cx="5362956" cy="1207008"/>
          </a:xfrm>
          <a:prstGeom prst="roundRect">
            <a:avLst>
              <a:gd name="adj" fmla="val 6061"/>
            </a:avLst>
          </a:prstGeom>
          <a:solidFill>
            <a:srgbClr val="18243C"/>
          </a:solidFill>
          <a:ln w="12700">
            <a:solidFill>
              <a:srgbClr val="2E3F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33388" y="2505456"/>
            <a:ext cx="658368" cy="658368"/>
          </a:xfrm>
          <a:prstGeom prst="ellipse">
            <a:avLst/>
          </a:prstGeom>
          <a:solidFill>
            <a:srgbClr val="23334F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147" y="2683215"/>
            <a:ext cx="302849" cy="30284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338060" y="2487168"/>
            <a:ext cx="40827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Technicians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338060" y="2798064"/>
            <a:ext cx="40827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7A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Buried in raw multi-sensor telemetry with no ranked signal on what to service first.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367588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QUANTIFIED OPERATIONAL PAIN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48640" y="3986784"/>
            <a:ext cx="3453384" cy="1920240"/>
          </a:xfrm>
          <a:prstGeom prst="roundRect">
            <a:avLst>
              <a:gd name="adj" fmla="val 3810"/>
            </a:avLst>
          </a:prstGeom>
          <a:solidFill>
            <a:srgbClr val="1D2B47"/>
          </a:solidFill>
          <a:ln w="12700">
            <a:solidFill>
              <a:srgbClr val="2E3F5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5096" y="4169664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22960" y="4206240"/>
            <a:ext cx="25389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18–22%</a:t>
            </a:r>
            <a:endParaRPr lang="en-US" sz="4000" dirty="0"/>
          </a:p>
        </p:txBody>
      </p:sp>
      <p:sp>
        <p:nvSpPr>
          <p:cNvPr id="20" name="Text 15"/>
          <p:cNvSpPr txBox="1"/>
          <p:nvPr/>
        </p:nvSpPr>
        <p:spPr>
          <a:xfrm>
            <a:off x="822960" y="4901184"/>
            <a:ext cx="2904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UNPLANNED MISSION ABORTS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822960" y="5193792"/>
            <a:ext cx="290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7A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In-flight aborts traced to thermal and hydraulic anomalies that were never flagged pre-launch.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367784" y="3986784"/>
            <a:ext cx="3453384" cy="1920240"/>
          </a:xfrm>
          <a:prstGeom prst="roundRect">
            <a:avLst>
              <a:gd name="adj" fmla="val 3810"/>
            </a:avLst>
          </a:prstGeom>
          <a:solidFill>
            <a:srgbClr val="1D2B47"/>
          </a:solidFill>
          <a:ln w="12700">
            <a:solidFill>
              <a:srgbClr val="2E3F5C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4240" y="4169664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4642104" y="4206240"/>
            <a:ext cx="25389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3.5x</a:t>
            </a:r>
            <a:endParaRPr lang="en-US" sz="4000" dirty="0"/>
          </a:p>
        </p:txBody>
      </p:sp>
      <p:sp>
        <p:nvSpPr>
          <p:cNvPr id="25" name="Text 19"/>
          <p:cNvSpPr txBox="1"/>
          <p:nvPr/>
        </p:nvSpPr>
        <p:spPr>
          <a:xfrm>
            <a:off x="4642104" y="4901184"/>
            <a:ext cx="2904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LABOR HOURS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4642104" y="5193792"/>
            <a:ext cx="290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7A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servicing consumes 3.5x the labor hours of a planned pre-emptive component swap.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8186928" y="3986784"/>
            <a:ext cx="3453384" cy="1920240"/>
          </a:xfrm>
          <a:prstGeom prst="roundRect">
            <a:avLst>
              <a:gd name="adj" fmla="val 3810"/>
            </a:avLst>
          </a:prstGeom>
          <a:solidFill>
            <a:srgbClr val="1D2B47"/>
          </a:solidFill>
          <a:ln w="12700">
            <a:solidFill>
              <a:srgbClr val="2E3F5C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3384" y="4169664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461248" y="4206240"/>
            <a:ext cx="25389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$450K+</a:t>
            </a:r>
            <a:endParaRPr lang="en-US" sz="4000" dirty="0"/>
          </a:p>
        </p:txBody>
      </p:sp>
      <p:sp>
        <p:nvSpPr>
          <p:cNvPr id="30" name="Text 23"/>
          <p:cNvSpPr txBox="1"/>
          <p:nvPr/>
        </p:nvSpPr>
        <p:spPr>
          <a:xfrm>
            <a:off x="8461248" y="4901184"/>
            <a:ext cx="2904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FAILURE EVENT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8461248" y="5193792"/>
            <a:ext cx="290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7A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engine housing damage caused by a single unflagged bearing failure.</a:t>
            </a:r>
            <a:endParaRPr lang="en-US" sz="1100" dirty="0"/>
          </a:p>
        </p:txBody>
      </p:sp>
      <p:sp>
        <p:nvSpPr>
          <p:cNvPr id="32" name="Text 25"/>
          <p:cNvSpPr txBox="1"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HUMS  ·  Team Dark  ·  Bob AI Hackathon (IBM)</a:t>
            </a:r>
            <a:endParaRPr lang="en-US" sz="900" dirty="0"/>
          </a:p>
        </p:txBody>
      </p:sp>
      <p:sp>
        <p:nvSpPr>
          <p:cNvPr id="33" name="Text 26"/>
          <p:cNvSpPr txBox="1"/>
          <p:nvPr/>
        </p:nvSpPr>
        <p:spPr>
          <a:xfrm>
            <a:off x="10725912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  —  SOLUTION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End-to-End Physics-Informed Readiness Platform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7A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HUMS models run-to-failure degradation dynamics after NASA CMAPSS, then converts them into command-ready decisions across four pillars.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5362956" cy="1920240"/>
          </a:xfrm>
          <a:prstGeom prst="roundRect">
            <a:avLst>
              <a:gd name="adj" fmla="val 3810"/>
            </a:avLst>
          </a:prstGeom>
          <a:solidFill>
            <a:srgbClr val="18243C"/>
          </a:solidFill>
          <a:ln w="12700">
            <a:solidFill>
              <a:srgbClr val="2E3F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084832"/>
            <a:ext cx="713232" cy="713232"/>
          </a:xfrm>
          <a:prstGeom prst="ellipse">
            <a:avLst/>
          </a:prstGeom>
          <a:solidFill>
            <a:srgbClr val="23334F"/>
          </a:solidFill>
          <a:ln w="15875">
            <a:solidFill>
              <a:srgbClr val="FBBF2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821" y="2277405"/>
            <a:ext cx="328087" cy="32808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070348" y="206654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314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700784" y="2139696"/>
            <a:ext cx="32598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Multi-Class Readiness Classifier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871216"/>
            <a:ext cx="47777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7A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/ At-Risk / Not-Ready states scored against 6 military safe operating bounds: Vibration, Oil Debris, EGT, Pressure Ratio, Fuel Flow and Shaft RPM.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77356" y="1810512"/>
            <a:ext cx="5362956" cy="1920240"/>
          </a:xfrm>
          <a:prstGeom prst="roundRect">
            <a:avLst>
              <a:gd name="adj" fmla="val 3810"/>
            </a:avLst>
          </a:prstGeom>
          <a:solidFill>
            <a:srgbClr val="18243C"/>
          </a:solidFill>
          <a:ln w="12700">
            <a:solidFill>
              <a:srgbClr val="2E3F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69964" y="2084832"/>
            <a:ext cx="713232" cy="713232"/>
          </a:xfrm>
          <a:prstGeom prst="ellipse">
            <a:avLst/>
          </a:prstGeom>
          <a:solidFill>
            <a:srgbClr val="23334F"/>
          </a:solidFill>
          <a:ln w="15875">
            <a:solidFill>
              <a:srgbClr val="FBBF2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537" y="2277405"/>
            <a:ext cx="328087" cy="32808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799064" y="206654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314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7429500" y="2139696"/>
            <a:ext cx="32598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Plain-Language Executive Briefings</a:t>
            </a:r>
            <a:endParaRPr lang="en-US" sz="1550" dirty="0"/>
          </a:p>
        </p:txBody>
      </p:sp>
      <p:sp>
        <p:nvSpPr>
          <p:cNvPr id="16" name="Text 12"/>
          <p:cNvSpPr txBox="1"/>
          <p:nvPr/>
        </p:nvSpPr>
        <p:spPr>
          <a:xfrm>
            <a:off x="6569964" y="2871216"/>
            <a:ext cx="47777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7A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Translates multi-sensor threshold breaches into zero-jargon military briefings with explicit root cause identification.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48640" y="3931920"/>
            <a:ext cx="5362956" cy="1920240"/>
          </a:xfrm>
          <a:prstGeom prst="roundRect">
            <a:avLst>
              <a:gd name="adj" fmla="val 3810"/>
            </a:avLst>
          </a:prstGeom>
          <a:solidFill>
            <a:srgbClr val="18243C"/>
          </a:solidFill>
          <a:ln w="12700">
            <a:solidFill>
              <a:srgbClr val="2E3F5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41248" y="4206240"/>
            <a:ext cx="713232" cy="713232"/>
          </a:xfrm>
          <a:prstGeom prst="ellipse">
            <a:avLst/>
          </a:prstGeom>
          <a:solidFill>
            <a:srgbClr val="23334F"/>
          </a:solidFill>
          <a:ln w="15875">
            <a:solidFill>
              <a:srgbClr val="FBBF24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821" y="4398813"/>
            <a:ext cx="328087" cy="32808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070348" y="41879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314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21" name="Text 16"/>
          <p:cNvSpPr txBox="1"/>
          <p:nvPr/>
        </p:nvSpPr>
        <p:spPr>
          <a:xfrm>
            <a:off x="1700784" y="4261104"/>
            <a:ext cx="32598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 &amp; Mission Abort Predictor</a:t>
            </a:r>
            <a:endParaRPr lang="en-US" sz="1550" dirty="0"/>
          </a:p>
        </p:txBody>
      </p:sp>
      <p:sp>
        <p:nvSpPr>
          <p:cNvPr id="22" name="Text 17"/>
          <p:cNvSpPr txBox="1"/>
          <p:nvPr/>
        </p:nvSpPr>
        <p:spPr>
          <a:xfrm>
            <a:off x="841248" y="4992624"/>
            <a:ext cx="47777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7A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Remaining Useful Life in cycles alongside 14-day and 30-day mission abort probabilities (P14d / P30d).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277356" y="3931920"/>
            <a:ext cx="5362956" cy="1920240"/>
          </a:xfrm>
          <a:prstGeom prst="roundRect">
            <a:avLst>
              <a:gd name="adj" fmla="val 3810"/>
            </a:avLst>
          </a:prstGeom>
          <a:solidFill>
            <a:srgbClr val="18243C"/>
          </a:solidFill>
          <a:ln w="12700">
            <a:solidFill>
              <a:srgbClr val="2E3F5C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569964" y="4206240"/>
            <a:ext cx="713232" cy="713232"/>
          </a:xfrm>
          <a:prstGeom prst="ellipse">
            <a:avLst/>
          </a:prstGeom>
          <a:solidFill>
            <a:srgbClr val="23334F"/>
          </a:solidFill>
          <a:ln w="15875">
            <a:solidFill>
              <a:srgbClr val="FBBF24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537" y="4398813"/>
            <a:ext cx="328087" cy="328087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0799064" y="41879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314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27" name="Text 21"/>
          <p:cNvSpPr txBox="1"/>
          <p:nvPr/>
        </p:nvSpPr>
        <p:spPr>
          <a:xfrm>
            <a:off x="7429500" y="4261104"/>
            <a:ext cx="32598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Priority Queue</a:t>
            </a:r>
            <a:endParaRPr lang="en-US" sz="1550" dirty="0"/>
          </a:p>
        </p:txBody>
      </p:sp>
      <p:sp>
        <p:nvSpPr>
          <p:cNvPr id="28" name="Text 22"/>
          <p:cNvSpPr txBox="1"/>
          <p:nvPr/>
        </p:nvSpPr>
        <p:spPr>
          <a:xfrm>
            <a:off x="6569964" y="4992624"/>
            <a:ext cx="47777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7A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multi-factor ranking formula balancing Risk, Mission Weight and Time-to-Failure — every position is auditable.</a:t>
            </a:r>
            <a:endParaRPr lang="en-US" sz="1150" dirty="0"/>
          </a:p>
        </p:txBody>
      </p:sp>
      <p:sp>
        <p:nvSpPr>
          <p:cNvPr id="29" name="Text 23"/>
          <p:cNvSpPr txBox="1"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HUMS  ·  Team Dark  ·  Bob AI Hackathon (IBM)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10725912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  —  DEMO &amp;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Telemetry to Command HUD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26464"/>
            <a:ext cx="2484882" cy="877824"/>
          </a:xfrm>
          <a:prstGeom prst="roundRect">
            <a:avLst>
              <a:gd name="adj" fmla="val 8333"/>
            </a:avLst>
          </a:prstGeom>
          <a:solidFill>
            <a:srgbClr val="18243C"/>
          </a:solidFill>
          <a:ln w="12700">
            <a:solidFill>
              <a:srgbClr val="2E3F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" y="150876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676656" y="1728216"/>
            <a:ext cx="22288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Sensor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 rot="5400000">
            <a:off x="3134106" y="1792224"/>
            <a:ext cx="182880" cy="164592"/>
          </a:xfrm>
          <a:prstGeom prst="triangl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17570" y="1426464"/>
            <a:ext cx="2484882" cy="877824"/>
          </a:xfrm>
          <a:prstGeom prst="roundRect">
            <a:avLst>
              <a:gd name="adj" fmla="val 8333"/>
            </a:avLst>
          </a:prstGeom>
          <a:solidFill>
            <a:srgbClr val="18243C"/>
          </a:solidFill>
          <a:ln w="12700">
            <a:solidFill>
              <a:srgbClr val="2E3F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45586" y="150876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545586" y="1728216"/>
            <a:ext cx="22288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&amp; Rolling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rot="5400000">
            <a:off x="6003036" y="1792224"/>
            <a:ext cx="182880" cy="164592"/>
          </a:xfrm>
          <a:prstGeom prst="triangl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86500" y="1426464"/>
            <a:ext cx="2484882" cy="877824"/>
          </a:xfrm>
          <a:prstGeom prst="roundRect">
            <a:avLst>
              <a:gd name="adj" fmla="val 8333"/>
            </a:avLst>
          </a:prstGeom>
          <a:solidFill>
            <a:srgbClr val="18243C"/>
          </a:solidFill>
          <a:ln w="12700">
            <a:solidFill>
              <a:srgbClr val="2E3F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14516" y="150876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414516" y="1728216"/>
            <a:ext cx="22288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+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 rot="5400000">
            <a:off x="8871966" y="1792224"/>
            <a:ext cx="182880" cy="164592"/>
          </a:xfrm>
          <a:prstGeom prst="triangl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55430" y="1426464"/>
            <a:ext cx="2484882" cy="877824"/>
          </a:xfrm>
          <a:prstGeom prst="roundRect">
            <a:avLst>
              <a:gd name="adj" fmla="val 8333"/>
            </a:avLst>
          </a:prstGeom>
          <a:solidFill>
            <a:srgbClr val="18243C"/>
          </a:solidFill>
          <a:ln w="12700">
            <a:solidFill>
              <a:srgbClr val="2E3F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83446" y="150876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9283446" y="1728216"/>
            <a:ext cx="22288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Explanation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2651760"/>
            <a:ext cx="2484882" cy="877824"/>
          </a:xfrm>
          <a:prstGeom prst="roundRect">
            <a:avLst>
              <a:gd name="adj" fmla="val 8333"/>
            </a:avLst>
          </a:prstGeom>
          <a:solidFill>
            <a:srgbClr val="18243C"/>
          </a:solidFill>
          <a:ln w="12700">
            <a:solidFill>
              <a:srgbClr val="2E3F5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" y="273405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76656" y="2953512"/>
            <a:ext cx="22288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 rot="5400000">
            <a:off x="3134106" y="3017520"/>
            <a:ext cx="182880" cy="164592"/>
          </a:xfrm>
          <a:prstGeom prst="triangl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17570" y="2651760"/>
            <a:ext cx="2484882" cy="877824"/>
          </a:xfrm>
          <a:prstGeom prst="roundRect">
            <a:avLst>
              <a:gd name="adj" fmla="val 8333"/>
            </a:avLst>
          </a:prstGeom>
          <a:solidFill>
            <a:srgbClr val="18243C"/>
          </a:solidFill>
          <a:ln w="12700">
            <a:solidFill>
              <a:srgbClr val="2E3F5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545586" y="273405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3545586" y="2953512"/>
            <a:ext cx="22288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Service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 rot="5400000">
            <a:off x="6003036" y="3017520"/>
            <a:ext cx="182880" cy="164592"/>
          </a:xfrm>
          <a:prstGeom prst="triangl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86500" y="2651760"/>
            <a:ext cx="2484882" cy="877824"/>
          </a:xfrm>
          <a:prstGeom prst="roundRect">
            <a:avLst>
              <a:gd name="adj" fmla="val 8333"/>
            </a:avLst>
          </a:prstGeom>
          <a:solidFill>
            <a:srgbClr val="223252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14516" y="273405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6414516" y="2953512"/>
            <a:ext cx="22288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HUD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397871" y="2304288"/>
            <a:ext cx="0" cy="173736"/>
          </a:xfrm>
          <a:prstGeom prst="line">
            <a:avLst/>
          </a:prstGeom>
          <a:noFill/>
          <a:ln w="15875">
            <a:solidFill>
              <a:srgbClr val="FBBF2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791081" y="2478024"/>
            <a:ext cx="8606790" cy="0"/>
          </a:xfrm>
          <a:prstGeom prst="line">
            <a:avLst/>
          </a:prstGeom>
          <a:noFill/>
          <a:ln w="15875">
            <a:solidFill>
              <a:srgbClr val="FBBF2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791081" y="2478024"/>
            <a:ext cx="0" cy="91440"/>
          </a:xfrm>
          <a:prstGeom prst="line">
            <a:avLst/>
          </a:prstGeom>
          <a:noFill/>
          <a:ln w="15875">
            <a:solidFill>
              <a:srgbClr val="FBBF2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10800000">
            <a:off x="1699641" y="2551176"/>
            <a:ext cx="182880" cy="164592"/>
          </a:xfrm>
          <a:prstGeom prst="triangl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283446" y="2798064"/>
            <a:ext cx="22288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97A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7-stage pipeline  ·  asset-separated validation  ·  deployed live on Render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3785616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&amp; VALIDATION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4078224"/>
            <a:ext cx="2484882" cy="1664208"/>
          </a:xfrm>
          <a:prstGeom prst="roundRect">
            <a:avLst>
              <a:gd name="adj" fmla="val 4396"/>
            </a:avLst>
          </a:prstGeom>
          <a:solidFill>
            <a:srgbClr val="1D2B47"/>
          </a:solidFill>
          <a:ln w="12700">
            <a:solidFill>
              <a:srgbClr val="2E3F5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49808" y="4242816"/>
            <a:ext cx="208254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98.6%</a:t>
            </a:r>
            <a:endParaRPr lang="en-US" sz="3400" dirty="0"/>
          </a:p>
        </p:txBody>
      </p:sp>
      <p:sp>
        <p:nvSpPr>
          <p:cNvPr id="38" name="Text 36"/>
          <p:cNvSpPr txBox="1"/>
          <p:nvPr/>
        </p:nvSpPr>
        <p:spPr>
          <a:xfrm>
            <a:off x="749808" y="4864608"/>
            <a:ext cx="20825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 ACCURACY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749808" y="5120640"/>
            <a:ext cx="20825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7A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 0.988 on a 25% asset-separated holdout split.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417570" y="4078224"/>
            <a:ext cx="2484882" cy="1664208"/>
          </a:xfrm>
          <a:prstGeom prst="roundRect">
            <a:avLst>
              <a:gd name="adj" fmla="val 4396"/>
            </a:avLst>
          </a:prstGeom>
          <a:solidFill>
            <a:srgbClr val="1D2B47"/>
          </a:solidFill>
          <a:ln w="12700">
            <a:solidFill>
              <a:srgbClr val="2E3F5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618738" y="4242816"/>
            <a:ext cx="208254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4.89</a:t>
            </a:r>
            <a:endParaRPr lang="en-US" sz="3400" dirty="0"/>
          </a:p>
        </p:txBody>
      </p:sp>
      <p:sp>
        <p:nvSpPr>
          <p:cNvPr id="42" name="Text 40"/>
          <p:cNvSpPr txBox="1"/>
          <p:nvPr/>
        </p:nvSpPr>
        <p:spPr>
          <a:xfrm>
            <a:off x="3618738" y="4864608"/>
            <a:ext cx="20825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CYCLES MAE (RUL)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3618738" y="5120640"/>
            <a:ext cx="20825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7A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 9.13 cycles · R² = 0.735 on unseen engines.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86500" y="4078224"/>
            <a:ext cx="2484882" cy="1664208"/>
          </a:xfrm>
          <a:prstGeom prst="roundRect">
            <a:avLst>
              <a:gd name="adj" fmla="val 4396"/>
            </a:avLst>
          </a:prstGeom>
          <a:solidFill>
            <a:srgbClr val="1D2B47"/>
          </a:solidFill>
          <a:ln w="12700">
            <a:solidFill>
              <a:srgbClr val="2E3F5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487668" y="4242816"/>
            <a:ext cx="208254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400" dirty="0"/>
          </a:p>
        </p:txBody>
      </p:sp>
      <p:sp>
        <p:nvSpPr>
          <p:cNvPr id="46" name="Text 44"/>
          <p:cNvSpPr txBox="1"/>
          <p:nvPr/>
        </p:nvSpPr>
        <p:spPr>
          <a:xfrm>
            <a:off x="6487668" y="4864608"/>
            <a:ext cx="20825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LEAKAGE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6487668" y="5120640"/>
            <a:ext cx="20825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7A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cross-contamination between train and test splits.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9155430" y="4078224"/>
            <a:ext cx="2484882" cy="1664208"/>
          </a:xfrm>
          <a:prstGeom prst="roundRect">
            <a:avLst>
              <a:gd name="adj" fmla="val 4396"/>
            </a:avLst>
          </a:prstGeom>
          <a:solidFill>
            <a:srgbClr val="1D2B47"/>
          </a:solidFill>
          <a:ln w="12700">
            <a:solidFill>
              <a:srgbClr val="2E3F5C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356598" y="4242816"/>
            <a:ext cx="208254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&lt;5ms</a:t>
            </a:r>
            <a:endParaRPr lang="en-US" sz="3400" dirty="0"/>
          </a:p>
        </p:txBody>
      </p:sp>
      <p:sp>
        <p:nvSpPr>
          <p:cNvPr id="50" name="Text 48"/>
          <p:cNvSpPr txBox="1"/>
          <p:nvPr/>
        </p:nvSpPr>
        <p:spPr>
          <a:xfrm>
            <a:off x="9356598" y="4864608"/>
            <a:ext cx="20825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COLD BOOT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9356598" y="5120640"/>
            <a:ext cx="20825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7A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Pre-cached ML diagnostics on Render free tier.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HUMS  ·  Team Dark  ·  Bob AI Hackathon (IBM)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10725912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  —  IBM TECHNOLOGY INTEGRATION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 AI &amp; watsonx: The Reasoning Layer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4160520" cy="4224528"/>
          </a:xfrm>
          <a:prstGeom prst="roundRect">
            <a:avLst>
              <a:gd name="adj" fmla="val 1758"/>
            </a:avLst>
          </a:prstGeom>
          <a:solidFill>
            <a:srgbClr val="1D2B47"/>
          </a:solidFill>
          <a:ln w="12700">
            <a:solidFill>
              <a:srgbClr val="2E3F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1792224"/>
            <a:ext cx="786384" cy="786384"/>
          </a:xfrm>
          <a:prstGeom prst="ellipse">
            <a:avLst/>
          </a:prstGeom>
          <a:solidFill>
            <a:srgbClr val="23334F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860" y="2004548"/>
            <a:ext cx="361737" cy="3617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59536" y="2743200"/>
            <a:ext cx="3538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Focus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59536" y="3127248"/>
            <a:ext cx="35387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7A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Bob CLI and watsonx sit at the reasoning layer of APEX HUMS — synthesising natural-language diagnostic briefings from model output and executing intelligent maintenance runbooks end to end.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59536" y="4572000"/>
            <a:ext cx="1325880" cy="347472"/>
          </a:xfrm>
          <a:prstGeom prst="roundRect">
            <a:avLst>
              <a:gd name="adj" fmla="val 50000"/>
            </a:avLst>
          </a:prstGeom>
          <a:solidFill>
            <a:srgbClr val="23334F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59536" y="45720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Bob CLI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313432" y="4572000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23334F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313432" y="45720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watsonx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493008" y="4572000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23334F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93008" y="45720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Runbooks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859536" y="513892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LOAD-BEARING, NOT DECORATIVE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074920" y="1481328"/>
            <a:ext cx="6565392" cy="1298448"/>
          </a:xfrm>
          <a:prstGeom prst="roundRect">
            <a:avLst>
              <a:gd name="adj" fmla="val 5634"/>
            </a:avLst>
          </a:prstGeom>
          <a:solidFill>
            <a:srgbClr val="18243C"/>
          </a:solidFill>
          <a:ln w="12700">
            <a:solidFill>
              <a:srgbClr val="2E3F5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349240" y="1792224"/>
            <a:ext cx="676656" cy="676656"/>
          </a:xfrm>
          <a:prstGeom prst="ellipse">
            <a:avLst/>
          </a:prstGeom>
          <a:solidFill>
            <a:srgbClr val="23334F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1937" y="1974921"/>
            <a:ext cx="311262" cy="31126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190488" y="1719072"/>
            <a:ext cx="5193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Briefing Generation</a:t>
            </a:r>
            <a:endParaRPr lang="en-US" sz="1550" dirty="0"/>
          </a:p>
        </p:txBody>
      </p:sp>
      <p:sp>
        <p:nvSpPr>
          <p:cNvPr id="20" name="Text 16"/>
          <p:cNvSpPr txBox="1"/>
          <p:nvPr/>
        </p:nvSpPr>
        <p:spPr>
          <a:xfrm>
            <a:off x="6190488" y="2048256"/>
            <a:ext cx="5193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7A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sensor breaches are automatically rewritten into actionable command directives an officer can act on without an analyst.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5074920" y="2944368"/>
            <a:ext cx="6565392" cy="1298448"/>
          </a:xfrm>
          <a:prstGeom prst="roundRect">
            <a:avLst>
              <a:gd name="adj" fmla="val 5634"/>
            </a:avLst>
          </a:prstGeom>
          <a:solidFill>
            <a:srgbClr val="18243C"/>
          </a:solidFill>
          <a:ln w="12700">
            <a:solidFill>
              <a:srgbClr val="2E3F5C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349240" y="3255264"/>
            <a:ext cx="676656" cy="676656"/>
          </a:xfrm>
          <a:prstGeom prst="ellipse">
            <a:avLst/>
          </a:prstGeom>
          <a:solidFill>
            <a:srgbClr val="23334F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1937" y="3437961"/>
            <a:ext cx="311262" cy="311262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190488" y="3182112"/>
            <a:ext cx="5193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Work Order Dispatch</a:t>
            </a:r>
            <a:endParaRPr lang="en-US" sz="1550" dirty="0"/>
          </a:p>
        </p:txBody>
      </p:sp>
      <p:sp>
        <p:nvSpPr>
          <p:cNvPr id="25" name="Text 20"/>
          <p:cNvSpPr txBox="1"/>
          <p:nvPr/>
        </p:nvSpPr>
        <p:spPr>
          <a:xfrm>
            <a:off x="6190488" y="3511296"/>
            <a:ext cx="5193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7A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Dispatches work orders with automated spare parts reservation and labor hour estimation attached.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5074920" y="4407408"/>
            <a:ext cx="6565392" cy="1298448"/>
          </a:xfrm>
          <a:prstGeom prst="roundRect">
            <a:avLst>
              <a:gd name="adj" fmla="val 5634"/>
            </a:avLst>
          </a:prstGeom>
          <a:solidFill>
            <a:srgbClr val="18243C"/>
          </a:solidFill>
          <a:ln w="12700">
            <a:solidFill>
              <a:srgbClr val="2E3F5C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349240" y="4718304"/>
            <a:ext cx="676656" cy="676656"/>
          </a:xfrm>
          <a:prstGeom prst="ellipse">
            <a:avLst/>
          </a:prstGeom>
          <a:solidFill>
            <a:srgbClr val="23334F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1937" y="4901001"/>
            <a:ext cx="311262" cy="31126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190488" y="4645152"/>
            <a:ext cx="5193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&amp; Scoring Pipeline</a:t>
            </a:r>
            <a:endParaRPr lang="en-US" sz="1550" dirty="0"/>
          </a:p>
        </p:txBody>
      </p:sp>
      <p:sp>
        <p:nvSpPr>
          <p:cNvPr id="30" name="Text 24"/>
          <p:cNvSpPr txBox="1"/>
          <p:nvPr/>
        </p:nvSpPr>
        <p:spPr>
          <a:xfrm>
            <a:off x="6190488" y="4974336"/>
            <a:ext cx="5193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7A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submission validation plus a continuous model scoring loop that keeps predictions honest over time.</a:t>
            </a:r>
            <a:endParaRPr lang="en-US" sz="1150" dirty="0"/>
          </a:p>
        </p:txBody>
      </p:sp>
      <p:sp>
        <p:nvSpPr>
          <p:cNvPr id="31" name="Text 25"/>
          <p:cNvSpPr txBox="1"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HUMS  ·  Team Dark  ·  Bob AI Hackathon (IBM)</a:t>
            </a:r>
            <a:endParaRPr lang="en-US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10725912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0"/>
            <a:ext cx="0" cy="685800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53312" y="0"/>
            <a:ext cx="0" cy="685800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29968" y="0"/>
            <a:ext cx="0" cy="685800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06624" y="0"/>
            <a:ext cx="0" cy="685800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83280" y="0"/>
            <a:ext cx="0" cy="685800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59936" y="0"/>
            <a:ext cx="0" cy="685800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36592" y="0"/>
            <a:ext cx="0" cy="685800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13248" y="0"/>
            <a:ext cx="0" cy="685800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9904" y="0"/>
            <a:ext cx="0" cy="685800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0"/>
            <a:ext cx="0" cy="685800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43216" y="0"/>
            <a:ext cx="0" cy="685800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19872" y="0"/>
            <a:ext cx="0" cy="685800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96528" y="0"/>
            <a:ext cx="0" cy="685800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73184" y="0"/>
            <a:ext cx="0" cy="685800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49840" y="0"/>
            <a:ext cx="0" cy="685800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26496" y="0"/>
            <a:ext cx="0" cy="685800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503152" y="0"/>
            <a:ext cx="0" cy="685800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179808" y="0"/>
            <a:ext cx="0" cy="685800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48640"/>
            <a:ext cx="12188952" cy="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097280"/>
            <a:ext cx="12188952" cy="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645920"/>
            <a:ext cx="12188952" cy="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194560"/>
            <a:ext cx="12188952" cy="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291840"/>
            <a:ext cx="12188952" cy="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840480"/>
            <a:ext cx="12188952" cy="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389120"/>
            <a:ext cx="12188952" cy="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937760"/>
            <a:ext cx="12188952" cy="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035040"/>
            <a:ext cx="12188952" cy="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583680"/>
            <a:ext cx="12188952" cy="0"/>
          </a:xfrm>
          <a:prstGeom prst="line">
            <a:avLst/>
          </a:prstGeom>
          <a:noFill/>
          <a:ln w="9525">
            <a:solidFill>
              <a:srgbClr val="16213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  —  IMPACT &amp; FUTURE VISION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Hackathon Build to the Flightline</a:t>
            </a:r>
            <a:endParaRPr lang="en-US" sz="3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1389888"/>
            <a:ext cx="53629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IMPACT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1719072"/>
            <a:ext cx="5362956" cy="1298448"/>
          </a:xfrm>
          <a:prstGeom prst="roundRect">
            <a:avLst>
              <a:gd name="adj" fmla="val 5634"/>
            </a:avLst>
          </a:prstGeom>
          <a:solidFill>
            <a:srgbClr val="1D2B47"/>
          </a:solidFill>
          <a:ln w="12700">
            <a:solidFill>
              <a:srgbClr val="2E3F5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04672" y="20116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4200" dirty="0"/>
          </a:p>
        </p:txBody>
      </p:sp>
      <p:sp>
        <p:nvSpPr>
          <p:cNvPr id="37" name="Text 35"/>
          <p:cNvSpPr txBox="1"/>
          <p:nvPr/>
        </p:nvSpPr>
        <p:spPr>
          <a:xfrm>
            <a:off x="2423160" y="2029968"/>
            <a:ext cx="32141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in unplanned mission aborts through pre-mission risk evaluation.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48640" y="3200400"/>
            <a:ext cx="5362956" cy="1298448"/>
          </a:xfrm>
          <a:prstGeom prst="roundRect">
            <a:avLst>
              <a:gd name="adj" fmla="val 5634"/>
            </a:avLst>
          </a:prstGeom>
          <a:solidFill>
            <a:srgbClr val="1D2B47"/>
          </a:solidFill>
          <a:ln w="12700">
            <a:solidFill>
              <a:srgbClr val="2E3F5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04672" y="349300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4200" dirty="0"/>
          </a:p>
        </p:txBody>
      </p:sp>
      <p:sp>
        <p:nvSpPr>
          <p:cNvPr id="40" name="Text 38"/>
          <p:cNvSpPr txBox="1"/>
          <p:nvPr/>
        </p:nvSpPr>
        <p:spPr>
          <a:xfrm>
            <a:off x="2423160" y="3511296"/>
            <a:ext cx="32141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in fleet maintenance labor hours and spare parts inventory buffer.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6277356" y="1389888"/>
            <a:ext cx="53629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ROADMAP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277356" y="1719072"/>
            <a:ext cx="5362956" cy="1298448"/>
          </a:xfrm>
          <a:prstGeom prst="roundRect">
            <a:avLst>
              <a:gd name="adj" fmla="val 5634"/>
            </a:avLst>
          </a:prstGeom>
          <a:solidFill>
            <a:srgbClr val="18243C"/>
          </a:solidFill>
          <a:ln w="12700">
            <a:solidFill>
              <a:srgbClr val="2E3F5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33388" y="2029968"/>
            <a:ext cx="676656" cy="676656"/>
          </a:xfrm>
          <a:prstGeom prst="ellipse">
            <a:avLst/>
          </a:prstGeom>
          <a:solidFill>
            <a:srgbClr val="23334F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6085" y="2212665"/>
            <a:ext cx="311262" cy="311262"/>
          </a:xfrm>
          <a:prstGeom prst="rect">
            <a:avLst/>
          </a:prstGeom>
        </p:spPr>
      </p:pic>
      <p:sp>
        <p:nvSpPr>
          <p:cNvPr id="45" name="Text 42"/>
          <p:cNvSpPr txBox="1"/>
          <p:nvPr/>
        </p:nvSpPr>
        <p:spPr>
          <a:xfrm>
            <a:off x="7374636" y="1956816"/>
            <a:ext cx="40096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Deployment</a:t>
            </a:r>
            <a:endParaRPr lang="en-US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7374636" y="2267712"/>
            <a:ext cx="40096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7A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IoT edge devices on physical aircraft buses — MIL-STD-1553 and ARINC 429.</a:t>
            </a:r>
            <a:endParaRPr lang="en-US" sz="1150" dirty="0"/>
          </a:p>
        </p:txBody>
      </p:sp>
      <p:sp>
        <p:nvSpPr>
          <p:cNvPr id="47" name="Shape 44"/>
          <p:cNvSpPr/>
          <p:nvPr/>
        </p:nvSpPr>
        <p:spPr>
          <a:xfrm>
            <a:off x="6277356" y="3200400"/>
            <a:ext cx="5362956" cy="1298448"/>
          </a:xfrm>
          <a:prstGeom prst="roundRect">
            <a:avLst>
              <a:gd name="adj" fmla="val 5634"/>
            </a:avLst>
          </a:prstGeom>
          <a:solidFill>
            <a:srgbClr val="18243C"/>
          </a:solidFill>
          <a:ln w="12700">
            <a:solidFill>
              <a:srgbClr val="2E3F5C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533388" y="3511296"/>
            <a:ext cx="676656" cy="676656"/>
          </a:xfrm>
          <a:prstGeom prst="ellipse">
            <a:avLst/>
          </a:prstGeom>
          <a:solidFill>
            <a:srgbClr val="23334F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6085" y="3693993"/>
            <a:ext cx="311262" cy="311262"/>
          </a:xfrm>
          <a:prstGeom prst="rect">
            <a:avLst/>
          </a:prstGeom>
        </p:spPr>
      </p:pic>
      <p:sp>
        <p:nvSpPr>
          <p:cNvPr id="50" name="Text 46"/>
          <p:cNvSpPr txBox="1"/>
          <p:nvPr/>
        </p:nvSpPr>
        <p:spPr>
          <a:xfrm>
            <a:off x="7374636" y="3438144"/>
            <a:ext cx="40096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Cloud Scale-Out</a:t>
            </a:r>
            <a:endParaRPr lang="en-US" sz="1500" dirty="0"/>
          </a:p>
        </p:txBody>
      </p:sp>
      <p:sp>
        <p:nvSpPr>
          <p:cNvPr id="51" name="Text 47"/>
          <p:cNvSpPr txBox="1"/>
          <p:nvPr/>
        </p:nvSpPr>
        <p:spPr>
          <a:xfrm>
            <a:off x="7374636" y="3749040"/>
            <a:ext cx="40096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7A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defense cloud with automated supply-chain ERP trigger hooks.</a:t>
            </a:r>
            <a:endParaRPr lang="en-US" sz="1150" dirty="0"/>
          </a:p>
        </p:txBody>
      </p:sp>
      <p:sp>
        <p:nvSpPr>
          <p:cNvPr id="52" name="Shape 48"/>
          <p:cNvSpPr/>
          <p:nvPr/>
        </p:nvSpPr>
        <p:spPr>
          <a:xfrm>
            <a:off x="548640" y="4754880"/>
            <a:ext cx="11091672" cy="1133856"/>
          </a:xfrm>
          <a:prstGeom prst="roundRect">
            <a:avLst>
              <a:gd name="adj" fmla="val 6452"/>
            </a:avLst>
          </a:prstGeom>
          <a:solidFill>
            <a:srgbClr val="1B294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877824" y="4992624"/>
            <a:ext cx="658368" cy="658368"/>
          </a:xfrm>
          <a:prstGeom prst="ellipse">
            <a:avLst/>
          </a:prstGeom>
          <a:solidFill>
            <a:srgbClr val="FBBF24"/>
          </a:solidFill>
          <a:ln w="15875">
            <a:solidFill>
              <a:srgbClr val="FBBF24"/>
            </a:solidFill>
            <a:prstDash val="solid"/>
          </a:ln>
        </p:spPr>
      </p:sp>
      <p:pic>
        <p:nvPicPr>
          <p:cNvPr id="5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583" y="5170383"/>
            <a:ext cx="302849" cy="302849"/>
          </a:xfrm>
          <a:prstGeom prst="rect">
            <a:avLst/>
          </a:prstGeom>
        </p:spPr>
      </p:pic>
      <p:sp>
        <p:nvSpPr>
          <p:cNvPr id="55" name="Text 50"/>
          <p:cNvSpPr txBox="1"/>
          <p:nvPr/>
        </p:nvSpPr>
        <p:spPr>
          <a:xfrm>
            <a:off x="1737360" y="5010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PRODUCTION DEMO</a:t>
            </a:r>
            <a:endParaRPr lang="en-US" sz="1100" dirty="0"/>
          </a:p>
        </p:txBody>
      </p:sp>
      <p:sp>
        <p:nvSpPr>
          <p:cNvPr id="56" name="Text 51"/>
          <p:cNvSpPr txBox="1"/>
          <p:nvPr/>
        </p:nvSpPr>
        <p:spPr>
          <a:xfrm>
            <a:off x="1737360" y="528523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https://iaf-hums-system.onrender.com</a:t>
            </a:r>
            <a:endParaRPr lang="en-US" sz="2100" dirty="0"/>
          </a:p>
        </p:txBody>
      </p:sp>
      <p:sp>
        <p:nvSpPr>
          <p:cNvPr id="57" name="Text 52"/>
          <p:cNvSpPr txBox="1"/>
          <p:nvPr/>
        </p:nvSpPr>
        <p:spPr>
          <a:xfrm>
            <a:off x="8531352" y="51937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Dark  ·  Track: AI</a:t>
            </a:r>
            <a:endParaRPr lang="en-US" sz="1300" dirty="0"/>
          </a:p>
        </p:txBody>
      </p:sp>
      <p:sp>
        <p:nvSpPr>
          <p:cNvPr id="58" name="Text 53"/>
          <p:cNvSpPr txBox="1"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HUMS  ·  Team Dark  ·  Bob AI Hackathon (IBM)</a:t>
            </a:r>
            <a:endParaRPr lang="en-US" sz="900" dirty="0"/>
          </a:p>
        </p:txBody>
      </p:sp>
      <p:sp>
        <p:nvSpPr>
          <p:cNvPr id="59" name="Text 54"/>
          <p:cNvSpPr txBox="1"/>
          <p:nvPr/>
        </p:nvSpPr>
        <p:spPr>
          <a:xfrm>
            <a:off x="10725912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APEX HUMS — Mission Fleet Readiness &amp; Predictive Maintenance System</dc:title>
  <dc:subject>PptxGenJS Presentation</dc:subject>
  <dc:creator>Team Dark</dc:creator>
  <cp:lastModifiedBy>Team Dark</cp:lastModifiedBy>
  <cp:revision>1</cp:revision>
  <dcterms:created xsi:type="dcterms:W3CDTF">2026-09-15T16:04:41Z</dcterms:created>
  <dcterms:modified xsi:type="dcterms:W3CDTF">2026-09-15T16:04:41Z</dcterms:modified>
</cp:coreProperties>
</file>